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7406d3e-5b5b-9ab7-ee81-b48464841669}">
          <p14:sldIdLst>
            <p14:sldId id="256"/>
          </p14:sldIdLst>
        </p14:section>
        <p14:section name="Findings" id="{37a2ffaf-57a5-2d2a-2677-0e6ecbe978da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Close" id="{2077ac5c-1740-1b1d-58ef-f23e11b7495d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1F4E3D"/>
            </a:solidFill>
            <a:ln w="50800" cap="flat">
              <a:solidFill>
                <a:srgbClr val="1F4E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B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4E3D"/>
              </a:solidFill>
              <a:ln w="9525" cap="flat">
                <a:solidFill>
                  <a:srgbClr val="1F4E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Jan '11</c:v>
                  </c:pt>
                  <c:pt idx="1">
                    <c:v>Feb '11</c:v>
                  </c:pt>
                  <c:pt idx="2">
                    <c:v>Mar '11</c:v>
                  </c:pt>
                  <c:pt idx="3">
                    <c:v>Apr '11</c:v>
                  </c:pt>
                  <c:pt idx="4">
                    <c:v>May '11</c:v>
                  </c:pt>
                  <c:pt idx="5">
                    <c:v>Jun '11</c:v>
                  </c:pt>
                  <c:pt idx="6">
                    <c:v>Jul '11</c:v>
                  </c:pt>
                  <c:pt idx="7">
                    <c:v>Aug '11</c:v>
                  </c:pt>
                  <c:pt idx="8">
                    <c:v>Sep '11</c:v>
                  </c:pt>
                  <c:pt idx="9">
                    <c:v>Oct '11</c:v>
                  </c:pt>
                  <c:pt idx="10">
                    <c:v>Nov '11</c:v>
                  </c:pt>
                  <c:pt idx="11">
                    <c:v>Dec '11</c:v>
                  </c:pt>
                  <c:pt idx="12">
                    <c:v>Jan '12</c:v>
                  </c:pt>
                  <c:pt idx="13">
                    <c:v>Feb '12</c:v>
                  </c:pt>
                  <c:pt idx="14">
                    <c:v>Mar '12</c:v>
                  </c:pt>
                  <c:pt idx="15">
                    <c:v>Apr '12</c:v>
                  </c:pt>
                  <c:pt idx="16">
                    <c:v>May '12</c:v>
                  </c:pt>
                  <c:pt idx="17">
                    <c:v>Jun '12</c:v>
                  </c:pt>
                  <c:pt idx="18">
                    <c:v>Jul '12</c:v>
                  </c:pt>
                  <c:pt idx="19">
                    <c:v>Aug '12</c:v>
                  </c:pt>
                  <c:pt idx="20">
                    <c:v>Sep '12</c:v>
                  </c:pt>
                  <c:pt idx="21">
                    <c:v>Oct '12</c:v>
                  </c:pt>
                  <c:pt idx="22">
                    <c:v>Nov '12</c:v>
                  </c:pt>
                  <c:pt idx="23">
                    <c:v>Dec '12</c:v>
                  </c:pt>
                  <c:pt idx="24">
                    <c:v>Jan '13</c:v>
                  </c:pt>
                  <c:pt idx="25">
                    <c:v>Feb '13</c:v>
                  </c:pt>
                  <c:pt idx="26">
                    <c:v>Mar '13</c:v>
                  </c:pt>
                  <c:pt idx="27">
                    <c:v>Apr '13</c:v>
                  </c:pt>
                  <c:pt idx="28">
                    <c:v>May '13</c:v>
                  </c:pt>
                  <c:pt idx="29">
                    <c:v>Jun '13</c:v>
                  </c:pt>
                  <c:pt idx="30">
                    <c:v>Jul '13</c:v>
                  </c:pt>
                  <c:pt idx="31">
                    <c:v>Aug '13</c:v>
                  </c:pt>
                  <c:pt idx="32">
                    <c:v>Sep '13</c:v>
                  </c:pt>
                  <c:pt idx="33">
                    <c:v>Oct '13</c:v>
                  </c:pt>
                  <c:pt idx="34">
                    <c:v>Nov '13</c:v>
                  </c:pt>
                  <c:pt idx="35">
                    <c:v>Dec '13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469.8</c:v>
                </c:pt>
                <c:pt idx="1">
                  <c:v>466.3</c:v>
                </c:pt>
                <c:pt idx="2">
                  <c:v>485.2</c:v>
                </c:pt>
                <c:pt idx="3">
                  <c:v>502.1</c:v>
                </c:pt>
                <c:pt idx="4">
                  <c:v>561.7</c:v>
                </c:pt>
                <c:pt idx="5">
                  <c:v>737.8</c:v>
                </c:pt>
                <c:pt idx="6">
                  <c:v>596.7</c:v>
                </c:pt>
                <c:pt idx="7">
                  <c:v>614.6</c:v>
                </c:pt>
                <c:pt idx="8">
                  <c:v>603.1</c:v>
                </c:pt>
                <c:pt idx="9">
                  <c:v>708.2</c:v>
                </c:pt>
                <c:pt idx="10">
                  <c:v>660.5</c:v>
                </c:pt>
                <c:pt idx="11">
                  <c:v>669.4</c:v>
                </c:pt>
                <c:pt idx="12">
                  <c:v>495.4</c:v>
                </c:pt>
                <c:pt idx="13">
                  <c:v>507</c:v>
                </c:pt>
                <c:pt idx="14">
                  <c:v>373.5</c:v>
                </c:pt>
                <c:pt idx="15">
                  <c:v>400.3</c:v>
                </c:pt>
                <c:pt idx="16">
                  <c:v>358.9</c:v>
                </c:pt>
                <c:pt idx="17">
                  <c:v>555.2</c:v>
                </c:pt>
                <c:pt idx="18">
                  <c:v>444.6</c:v>
                </c:pt>
                <c:pt idx="19">
                  <c:v>523.9</c:v>
                </c:pt>
                <c:pt idx="20">
                  <c:v>486.2</c:v>
                </c:pt>
                <c:pt idx="21">
                  <c:v>535.2</c:v>
                </c:pt>
                <c:pt idx="22">
                  <c:v>538</c:v>
                </c:pt>
                <c:pt idx="23">
                  <c:v>624.5</c:v>
                </c:pt>
                <c:pt idx="24">
                  <c:v>857.7</c:v>
                </c:pt>
                <c:pt idx="25">
                  <c:v>771.3</c:v>
                </c:pt>
                <c:pt idx="26">
                  <c:v>1049.9</c:v>
                </c:pt>
                <c:pt idx="27">
                  <c:v>1046</c:v>
                </c:pt>
                <c:pt idx="28">
                  <c:v>1284.6</c:v>
                </c:pt>
                <c:pt idx="29">
                  <c:v>1643.2</c:v>
                </c:pt>
                <c:pt idx="30">
                  <c:v>1371.7</c:v>
                </c:pt>
                <c:pt idx="31">
                  <c:v>1551.1</c:v>
                </c:pt>
                <c:pt idx="32">
                  <c:v>1447.5</c:v>
                </c:pt>
                <c:pt idx="33">
                  <c:v>1673.3</c:v>
                </c:pt>
                <c:pt idx="34">
                  <c:v>1780.9</c:v>
                </c:pt>
                <c:pt idx="35">
                  <c:v>1874.4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500" u="none">
                  <a:solidFill>
                    <a:srgbClr val="1B2A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6"/>
      </c:catAx>
      <c:valAx>
        <c:axId val="2094734552"/>
        <c:scaling>
          <c:orientation val="minMax"/>
          <c:max val="2400"/>
          <c:min val="0"/>
        </c:scaling>
        <c:delete val="0"/>
        <c:axPos val="l"/>
        <c:majorGridlines>
          <c:spPr>
            <a:ln w="6350" cap="flat">
              <a:solidFill>
                <a:srgbClr val="E3EAE6"/>
              </a:solidFill>
              <a:prstDash val="solid"/>
              <a:round/>
            </a:ln>
          </c:spPr>
        </c:majorGridlines>
        <c:numFmt formatCode="$#,##0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C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Road</c:v>
                </c:pt>
              </c:strCache>
            </c:strRef>
          </c:tx>
          <c:spPr>
            <a:solidFill>
              <a:srgbClr val="1F4E3D"/>
            </a:solidFill>
            <a:effectLst/>
          </c:spPr>
          <c:invertIfNegative val="0"/>
          <c:dLbls>
            <c:numFmt formatCode="$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3154</c:v>
                </c:pt>
                <c:pt idx="1">
                  <c:v>1647</c:v>
                </c:pt>
                <c:pt idx="2">
                  <c:v>1274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Mountain</c:v>
                </c:pt>
              </c:strCache>
            </c:strRef>
          </c:tx>
          <c:spPr>
            <a:solidFill>
              <a:srgbClr val="C8963E"/>
            </a:solidFill>
            <a:effectLst/>
          </c:spPr>
          <c:invertIfNegative val="0"/>
          <c:dLbls>
            <c:numFmt formatCode="$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3373</c:v>
                </c:pt>
                <c:pt idx="1">
                  <c:v>2061</c:v>
                </c:pt>
                <c:pt idx="2">
                  <c:v>1826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Touring</c:v>
                </c:pt>
              </c:strCache>
            </c:strRef>
          </c:tx>
          <c:spPr>
            <a:solidFill>
              <a:srgbClr val="9DB8AB"/>
            </a:solidFill>
            <a:effectLst/>
          </c:spPr>
          <c:invertIfNegative val="0"/>
          <c:dLbls>
            <c:numFmt formatCode="$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1645</c:v>
                </c:pt>
                <c:pt idx="2">
                  <c:v>1775</c:v>
                </c:pt>
              </c:numCache>
            </c:numRef>
          </c:val>
        </c:ser>
        <c:dLbls>
          <c:numFmt formatCode="$#,##0;;" sourceLinked="0"/>
          <c:txPr>
            <a:bodyPr/>
            <a:lstStyle/>
            <a:p>
              <a:pPr>
                <a:defRPr b="0" i="0" strike="noStrike" sz="1200" u="none">
                  <a:solidFill>
                    <a:srgbClr val="1B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B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500">
              <a:solidFill>
                <a:srgbClr val="1B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F4E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B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8A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8A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DB8A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963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United States</c:v>
                  </c:pt>
                  <c:pt idx="1">
                    <c:v>Australia</c:v>
                  </c:pt>
                  <c:pt idx="2">
                    <c:v>United Kingdom</c:v>
                  </c:pt>
                  <c:pt idx="3">
                    <c:v>Germany</c:v>
                  </c:pt>
                  <c:pt idx="4">
                    <c:v>France</c:v>
                  </c:pt>
                  <c:pt idx="5">
                    <c:v>Canada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</c:v>
                </c:pt>
                <c:pt idx="1">
                  <c:v>30.9</c:v>
                </c:pt>
                <c:pt idx="2">
                  <c:v>11.6</c:v>
                </c:pt>
                <c:pt idx="3">
                  <c:v>9.9</c:v>
                </c:pt>
                <c:pt idx="4">
                  <c:v>9</c:v>
                </c:pt>
                <c:pt idx="5">
                  <c:v>6.7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1B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B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7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customers</c:v>
                </c:pt>
              </c:strCache>
            </c:strRef>
          </c:tx>
          <c:spPr>
            <a:solidFill>
              <a:srgbClr val="9DB8A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B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order</c:v>
                  </c:pt>
                  <c:pt idx="1">
                    <c:v>2 orders</c:v>
                  </c:pt>
                  <c:pt idx="2">
                    <c:v>3+ orders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63.1</c:v>
                </c:pt>
                <c:pt idx="1">
                  <c:v>29.4</c:v>
                </c:pt>
                <c:pt idx="2">
                  <c:v>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revenue</c:v>
                </c:pt>
              </c:strCache>
            </c:strRef>
          </c:tx>
          <c:spPr>
            <a:solidFill>
              <a:srgbClr val="1F4E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B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order</c:v>
                  </c:pt>
                  <c:pt idx="1">
                    <c:v>2 orders</c:v>
                  </c:pt>
                  <c:pt idx="2">
                    <c:v>3+ orders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23.1</c:v>
                </c:pt>
                <c:pt idx="1">
                  <c:v>54.4</c:v>
                </c:pt>
                <c:pt idx="2">
                  <c:v>22.5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1B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B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500">
              <a:solidFill>
                <a:srgbClr val="1B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9DB8AB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B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Revenue</c:v>
                  </c:pt>
                  <c:pt idx="1">
                    <c:v>Expenditures</c:v>
                  </c:pt>
                  <c:pt idx="2">
                    <c:v>Profit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24.59</c:v>
                </c:pt>
                <c:pt idx="1">
                  <c:v>16.2</c:v>
                </c:pt>
                <c:pt idx="2">
                  <c:v>8.39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F4E3D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B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Revenue</c:v>
                  </c:pt>
                  <c:pt idx="1">
                    <c:v>Expenditures</c:v>
                  </c:pt>
                  <c:pt idx="2">
                    <c:v>Profit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25.69</c:v>
                </c:pt>
                <c:pt idx="1">
                  <c:v>20.23</c:v>
                </c:pt>
                <c:pt idx="2">
                  <c:v>5.46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1B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B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500">
              <a:solidFill>
                <a:srgbClr val="1B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8549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Sana Husain  ·  SQL + Tableau portfolio project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8549640"/>
            <a:ext cx="3657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8549640"/>
            <a:ext cx="3657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accent2"/>
                </a:solidFill>
              </a:rPr>
              <a:t>PORTFOLIO PROJECT  ·  SQL + TABLEAU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Drove AdventureWorks' 180% Revenue Growth?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0292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A financial analysis of 60,398 online sales records and the company's 2011 budget, using SQL Server and Tableau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7589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Sana Husain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7589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Swipe for the findings  →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5 Things the Data Shows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AdventureWorks, a bike retailer: full years 2011–2013</a:t>
            </a:r>
            <a:endParaRPr lang="en-US" sz="1800" dirty="0"/>
          </a:p>
        </p:txBody>
      </p:sp>
      <p:sp>
        <p:nvSpPr>
          <p:cNvPr id="4" name="Badge 1"/>
          <p:cNvSpPr/>
          <p:nvPr/>
        </p:nvSpPr>
        <p:spPr>
          <a:xfrm>
            <a:off x="640080" y="2743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697480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Revenue tripled in 2013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12724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$5.8M → $16.4M, while gross margin held at ~41%</a:t>
            </a:r>
            <a:endParaRPr lang="en-US" sz="1600" dirty="0"/>
          </a:p>
        </p:txBody>
      </p:sp>
      <p:sp>
        <p:nvSpPr>
          <p:cNvPr id="8" name="Badge 2"/>
          <p:cNvSpPr/>
          <p:nvPr/>
        </p:nvSpPr>
        <p:spPr>
          <a:xfrm>
            <a:off x="640080" y="385876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858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81304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Growth came from volume, not price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4242816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More bikes sold; average price fell in every bike type</a:t>
            </a:r>
            <a:endParaRPr lang="en-US" sz="1600" dirty="0"/>
          </a:p>
        </p:txBody>
      </p:sp>
      <p:sp>
        <p:nvSpPr>
          <p:cNvPr id="12" name="Badge 3"/>
          <p:cNvSpPr/>
          <p:nvPr/>
        </p:nvSpPr>
        <p:spPr>
          <a:xfrm>
            <a:off x="640080" y="497433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9743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928616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US &amp; Australia = 63% of revenue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5358384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Australia matches the US with far fewer, bigger orders</a:t>
            </a:r>
            <a:endParaRPr lang="en-US" sz="1600" dirty="0"/>
          </a:p>
        </p:txBody>
      </p:sp>
      <p:sp>
        <p:nvSpPr>
          <p:cNvPr id="16" name="Badge 4"/>
          <p:cNvSpPr/>
          <p:nvPr/>
        </p:nvSpPr>
        <p:spPr>
          <a:xfrm>
            <a:off x="640080" y="608990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60899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6044184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Repeat customers = 77% of revenue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6473952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37% of customers, but they spend 5–8x more</a:t>
            </a:r>
            <a:endParaRPr lang="en-US" sz="1600" dirty="0"/>
          </a:p>
        </p:txBody>
      </p:sp>
      <p:sp>
        <p:nvSpPr>
          <p:cNvPr id="20" name="Badge 5"/>
          <p:cNvSpPr/>
          <p:nvPr/>
        </p:nvSpPr>
        <p:spPr>
          <a:xfrm>
            <a:off x="640080" y="720547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7205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7159752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2011 profit missed budget by 35%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7589520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Revenue beat plan, but costs ran $4.0M (25%) over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8549640"/>
            <a:ext cx="3657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Revenue Tripled in 2013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December 2013 brought in 3x December 2012, driven by 6.5x more orders</a:t>
            </a:r>
            <a:endParaRPr lang="en-US" sz="1800" dirty="0"/>
          </a:p>
        </p:txBody>
      </p:sp>
      <p:graphicFrame>
        <p:nvGraphicFramePr>
          <p:cNvPr id="4" name="Monthly revenue chart" descr=""/>
          <p:cNvGraphicFramePr/>
          <p:nvPr/>
        </p:nvGraphicFramePr>
        <p:xfrm>
          <a:off x="457200" y="2651760"/>
          <a:ext cx="8229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rt label"/>
          <p:cNvSpPr txBox="1"/>
          <p:nvPr/>
        </p:nvSpPr>
        <p:spPr>
          <a:xfrm>
            <a:off x="1280160" y="45262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$470K</a:t>
            </a:r>
            <a:endParaRPr lang="en-US" sz="1700" dirty="0"/>
          </a:p>
        </p:txBody>
      </p:sp>
      <p:sp>
        <p:nvSpPr>
          <p:cNvPr id="6" name="End label"/>
          <p:cNvSpPr txBox="1"/>
          <p:nvPr/>
        </p:nvSpPr>
        <p:spPr>
          <a:xfrm>
            <a:off x="7726680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$1.87M</a:t>
            </a:r>
            <a:endParaRPr lang="en-US" sz="1700" dirty="0"/>
          </a:p>
        </p:txBody>
      </p:sp>
      <p:sp>
        <p:nvSpPr>
          <p:cNvPr id="7" name="Stat 1"/>
          <p:cNvSpPr/>
          <p:nvPr/>
        </p:nvSpPr>
        <p:spPr>
          <a:xfrm>
            <a:off x="640080" y="6400800"/>
            <a:ext cx="24384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6583680"/>
            <a:ext cx="198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$470K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72237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monthly revenue, Jan 2011</a:t>
            </a:r>
            <a:endParaRPr lang="en-US" sz="1500" dirty="0"/>
          </a:p>
        </p:txBody>
      </p:sp>
      <p:sp>
        <p:nvSpPr>
          <p:cNvPr id="10" name="Stat 2"/>
          <p:cNvSpPr/>
          <p:nvPr/>
        </p:nvSpPr>
        <p:spPr>
          <a:xfrm>
            <a:off x="3352800" y="6400800"/>
            <a:ext cx="24384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81400" y="6583680"/>
            <a:ext cx="198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21,289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3581400" y="72237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orders in 2013, up from 3,269 in 2012</a:t>
            </a:r>
            <a:endParaRPr lang="en-US" sz="1500" dirty="0"/>
          </a:p>
        </p:txBody>
      </p:sp>
      <p:sp>
        <p:nvSpPr>
          <p:cNvPr id="13" name="Stat 3"/>
          <p:cNvSpPr/>
          <p:nvPr/>
        </p:nvSpPr>
        <p:spPr>
          <a:xfrm>
            <a:off x="6065520" y="6400800"/>
            <a:ext cx="243840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94120" y="6583680"/>
            <a:ext cx="198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$1.87M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6294120" y="72237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monthly revenue, Dec 2013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8549640"/>
            <a:ext cx="3657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Growth Came From Volume, Not Price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Average price fell in every bike type as cheaper models sold in far greater numbers</a:t>
            </a:r>
            <a:endParaRPr lang="en-US" sz="1800" dirty="0"/>
          </a:p>
        </p:txBody>
      </p:sp>
      <p:graphicFrame>
        <p:nvGraphicFramePr>
          <p:cNvPr id="4" name="Bike price chart" descr=""/>
          <p:cNvGraphicFramePr/>
          <p:nvPr/>
        </p:nvGraphicFramePr>
        <p:xfrm>
          <a:off x="457200" y="2651760"/>
          <a:ext cx="8229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1"/>
          <p:cNvSpPr/>
          <p:nvPr/>
        </p:nvSpPr>
        <p:spPr>
          <a:xfrm>
            <a:off x="640080" y="6400800"/>
            <a:ext cx="24384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6583680"/>
            <a:ext cx="198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−60%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72237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Road bike average price, 2011 → 2013</a:t>
            </a:r>
            <a:endParaRPr lang="en-US" sz="1500" dirty="0"/>
          </a:p>
        </p:txBody>
      </p:sp>
      <p:sp>
        <p:nvSpPr>
          <p:cNvPr id="8" name="Stat 2"/>
          <p:cNvSpPr/>
          <p:nvPr/>
        </p:nvSpPr>
        <p:spPr>
          <a:xfrm>
            <a:off x="3352800" y="6400800"/>
            <a:ext cx="24384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81400" y="6583680"/>
            <a:ext cx="198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4.4x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3581400" y="72237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more bikes sold: 2,216 → 9,706</a:t>
            </a:r>
            <a:endParaRPr lang="en-US" sz="1500" dirty="0"/>
          </a:p>
        </p:txBody>
      </p:sp>
      <p:sp>
        <p:nvSpPr>
          <p:cNvPr id="11" name="Stat 3"/>
          <p:cNvSpPr/>
          <p:nvPr/>
        </p:nvSpPr>
        <p:spPr>
          <a:xfrm>
            <a:off x="6065520" y="6400800"/>
            <a:ext cx="243840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94120" y="6583680"/>
            <a:ext cx="198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294120" y="72237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Mountain bike margin, which kept overall margin at ~41%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8549640"/>
            <a:ext cx="3657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US &amp; Australia Earn 63% of Revenue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Margin is ~41% everywhere, so the gaps come from what customers buy, not discounts</a:t>
            </a:r>
            <a:endParaRPr lang="en-US" sz="1800" dirty="0"/>
          </a:p>
        </p:txBody>
      </p:sp>
      <p:graphicFrame>
        <p:nvGraphicFramePr>
          <p:cNvPr id="4" name="Country share chart" descr=""/>
          <p:cNvGraphicFramePr/>
          <p:nvPr/>
        </p:nvGraphicFramePr>
        <p:xfrm>
          <a:off x="457200" y="2651760"/>
          <a:ext cx="8229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1"/>
          <p:cNvSpPr/>
          <p:nvPr/>
        </p:nvSpPr>
        <p:spPr>
          <a:xfrm>
            <a:off x="640080" y="6400800"/>
            <a:ext cx="24384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6583680"/>
            <a:ext cx="198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$1,378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72237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Australia's average order, the highest</a:t>
            </a:r>
            <a:endParaRPr lang="en-US" sz="1500" dirty="0"/>
          </a:p>
        </p:txBody>
      </p:sp>
      <p:sp>
        <p:nvSpPr>
          <p:cNvPr id="8" name="Stat 2"/>
          <p:cNvSpPr/>
          <p:nvPr/>
        </p:nvSpPr>
        <p:spPr>
          <a:xfrm>
            <a:off x="3352800" y="6400800"/>
            <a:ext cx="24384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81400" y="6583680"/>
            <a:ext cx="198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$615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3581400" y="72237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Canada's average order: 12% of orders, 7% of revenue</a:t>
            </a:r>
            <a:endParaRPr lang="en-US" sz="1500" dirty="0"/>
          </a:p>
        </p:txBody>
      </p:sp>
      <p:sp>
        <p:nvSpPr>
          <p:cNvPr id="11" name="Stat 3"/>
          <p:cNvSpPr/>
          <p:nvPr/>
        </p:nvSpPr>
        <p:spPr>
          <a:xfrm>
            <a:off x="6065520" y="6400800"/>
            <a:ext cx="243840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94120" y="6583680"/>
            <a:ext cx="198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markets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294120" y="72237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drive nearly two-thirds of sales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8549640"/>
            <a:ext cx="3657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Repeat Customers Bring In 77% of Revenue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Most customers buy once; the ones who come back spend 5–8x more</a:t>
            </a:r>
            <a:endParaRPr lang="en-US" sz="1800" dirty="0"/>
          </a:p>
        </p:txBody>
      </p:sp>
      <p:graphicFrame>
        <p:nvGraphicFramePr>
          <p:cNvPr id="4" name="Customer chart" descr=""/>
          <p:cNvGraphicFramePr/>
          <p:nvPr/>
        </p:nvGraphicFramePr>
        <p:xfrm>
          <a:off x="457200" y="2651760"/>
          <a:ext cx="8229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1"/>
          <p:cNvSpPr/>
          <p:nvPr/>
        </p:nvSpPr>
        <p:spPr>
          <a:xfrm>
            <a:off x="640080" y="6400800"/>
            <a:ext cx="24384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6583680"/>
            <a:ext cx="198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72237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customers bought once: just 23% of revenue</a:t>
            </a:r>
            <a:endParaRPr lang="en-US" sz="1500" dirty="0"/>
          </a:p>
        </p:txBody>
      </p:sp>
      <p:sp>
        <p:nvSpPr>
          <p:cNvPr id="8" name="Stat 2"/>
          <p:cNvSpPr/>
          <p:nvPr/>
        </p:nvSpPr>
        <p:spPr>
          <a:xfrm>
            <a:off x="3352800" y="6400800"/>
            <a:ext cx="24384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81400" y="6583680"/>
            <a:ext cx="198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$3,009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3581400" y="72237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avg spend with 2 orders vs. $595 with 1</a:t>
            </a:r>
            <a:endParaRPr lang="en-US" sz="1500" dirty="0"/>
          </a:p>
        </p:txBody>
      </p:sp>
      <p:sp>
        <p:nvSpPr>
          <p:cNvPr id="11" name="Stat 3"/>
          <p:cNvSpPr/>
          <p:nvPr/>
        </p:nvSpPr>
        <p:spPr>
          <a:xfrm>
            <a:off x="6065520" y="6400800"/>
            <a:ext cx="243840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94120" y="6583680"/>
            <a:ext cx="198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$4,888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294120" y="72237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avg spend of the most loyal 7.5%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8549640"/>
            <a:ext cx="3657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2011: Revenue Beat Budget, Profit Missed by 35%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Costs ran $4.0M (25%) over plan; 89% of that came from two causes</a:t>
            </a:r>
            <a:endParaRPr lang="en-US" sz="1800" dirty="0"/>
          </a:p>
        </p:txBody>
      </p:sp>
      <p:graphicFrame>
        <p:nvGraphicFramePr>
          <p:cNvPr id="4" name="Budget chart" descr=""/>
          <p:cNvGraphicFramePr/>
          <p:nvPr/>
        </p:nvGraphicFramePr>
        <p:xfrm>
          <a:off x="457200" y="2651760"/>
          <a:ext cx="8229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1"/>
          <p:cNvSpPr/>
          <p:nvPr/>
        </p:nvSpPr>
        <p:spPr>
          <a:xfrm>
            <a:off x="640080" y="6400800"/>
            <a:ext cx="24384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6583680"/>
            <a:ext cx="198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$1.86M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72237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 taxes that were never budgeted</a:t>
            </a:r>
            <a:endParaRPr lang="en-US" sz="1500" dirty="0"/>
          </a:p>
        </p:txBody>
      </p:sp>
      <p:sp>
        <p:nvSpPr>
          <p:cNvPr id="8" name="Stat 2"/>
          <p:cNvSpPr/>
          <p:nvPr/>
        </p:nvSpPr>
        <p:spPr>
          <a:xfrm>
            <a:off x="3352800" y="6400800"/>
            <a:ext cx="24384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81400" y="6583680"/>
            <a:ext cx="198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+29%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3581400" y="72237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people costs over plan ($1.71M)</a:t>
            </a:r>
            <a:endParaRPr lang="en-US" sz="1500" dirty="0"/>
          </a:p>
        </p:txBody>
      </p:sp>
      <p:sp>
        <p:nvSpPr>
          <p:cNvPr id="11" name="Stat 3"/>
          <p:cNvSpPr/>
          <p:nvPr/>
        </p:nvSpPr>
        <p:spPr>
          <a:xfrm>
            <a:off x="6065520" y="6400800"/>
            <a:ext cx="243840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94120" y="6583680"/>
            <a:ext cx="198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−3.8%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294120" y="72237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cost of sales came in under budget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8549640"/>
            <a:ext cx="3657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I'd Recommend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Turning the findings into actions</a:t>
            </a:r>
            <a:endParaRPr lang="en-US" sz="1800" dirty="0"/>
          </a:p>
        </p:txBody>
      </p:sp>
      <p:sp>
        <p:nvSpPr>
          <p:cNvPr id="4" name="Rec 1"/>
          <p:cNvSpPr/>
          <p:nvPr/>
        </p:nvSpPr>
        <p:spPr>
          <a:xfrm>
            <a:off x="640080" y="2743200"/>
            <a:ext cx="3794760" cy="256032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30175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the second purchase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84048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Follow-up offers after a first order. Repeat buyers spend 5x more, so this is the biggest growth lever.</a:t>
            </a:r>
            <a:endParaRPr lang="en-US" sz="1500" dirty="0"/>
          </a:p>
        </p:txBody>
      </p:sp>
      <p:sp>
        <p:nvSpPr>
          <p:cNvPr id="7" name="Rec 2"/>
          <p:cNvSpPr/>
          <p:nvPr/>
        </p:nvSpPr>
        <p:spPr>
          <a:xfrm>
            <a:off x="4709160" y="2743200"/>
            <a:ext cx="379476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83480" y="30175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high-margin products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384048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Promote Mountain bikes (45% margin) and accessories (63%) to protect margin as prices fall.</a:t>
            </a:r>
            <a:endParaRPr lang="en-US" sz="1500" dirty="0"/>
          </a:p>
        </p:txBody>
      </p:sp>
      <p:sp>
        <p:nvSpPr>
          <p:cNvPr id="10" name="Rec 3"/>
          <p:cNvSpPr/>
          <p:nvPr/>
        </p:nvSpPr>
        <p:spPr>
          <a:xfrm>
            <a:off x="640080" y="5532120"/>
            <a:ext cx="379476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58064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order value in Canada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662940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Lots of customers, small orders: bundle bikes with accessories to lift the $615 average.</a:t>
            </a:r>
            <a:endParaRPr lang="en-US" sz="1500" dirty="0"/>
          </a:p>
        </p:txBody>
      </p:sp>
      <p:sp>
        <p:nvSpPr>
          <p:cNvPr id="13" name="Rec 4"/>
          <p:cNvSpPr/>
          <p:nvPr/>
        </p:nvSpPr>
        <p:spPr>
          <a:xfrm>
            <a:off x="4709160" y="5532120"/>
            <a:ext cx="379476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83480" y="58064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budget process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662940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Plan for taxes and set headcount budgets from realistic hiring assumptions.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8549640"/>
            <a:ext cx="3657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I Built 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From raw tables to a published dashboard</a:t>
            </a:r>
            <a:endParaRPr lang="en-US" sz="1800" dirty="0"/>
          </a:p>
        </p:txBody>
      </p:sp>
      <p:sp>
        <p:nvSpPr>
          <p:cNvPr id="4" name="Method 1"/>
          <p:cNvSpPr/>
          <p:nvPr/>
        </p:nvSpPr>
        <p:spPr>
          <a:xfrm>
            <a:off x="640080" y="2743200"/>
            <a:ext cx="78638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743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SQL Server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274320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9 queries across 60,398 sales rows: multi-table joins, CTEs, window functions and conditional aggregation</a:t>
            </a:r>
            <a:endParaRPr lang="en-US" sz="1500" dirty="0"/>
          </a:p>
        </p:txBody>
      </p:sp>
      <p:sp>
        <p:nvSpPr>
          <p:cNvPr id="7" name="Method 2"/>
          <p:cNvSpPr/>
          <p:nvPr/>
        </p:nvSpPr>
        <p:spPr>
          <a:xfrm>
            <a:off x="640080" y="4114800"/>
            <a:ext cx="78638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4114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Data checks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411480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Found partial years (3 and 28 days) and excluded them; reconciled 29 expense variances to the $4.0M total</a:t>
            </a:r>
            <a:endParaRPr lang="en-US" sz="1500" dirty="0"/>
          </a:p>
        </p:txBody>
      </p:sp>
      <p:sp>
        <p:nvSpPr>
          <p:cNvPr id="10" name="Method 3"/>
          <p:cNvSpPr/>
          <p:nvPr/>
        </p:nvSpPr>
        <p:spPr>
          <a:xfrm>
            <a:off x="640080" y="5486400"/>
            <a:ext cx="78638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5486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Tableau Public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548640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Interactive dashboard: monthly trend, country map, customer segments, pricing and budget vs. actual</a:t>
            </a:r>
            <a:endParaRPr lang="en-US" sz="1500" dirty="0"/>
          </a:p>
        </p:txBody>
      </p:sp>
      <p:sp>
        <p:nvSpPr>
          <p:cNvPr id="13" name="Method 4"/>
          <p:cNvSpPr/>
          <p:nvPr/>
        </p:nvSpPr>
        <p:spPr>
          <a:xfrm>
            <a:off x="640080" y="6858000"/>
            <a:ext cx="78638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6858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Analysis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685800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Descriptive KPIs (revenue, gross margin, AOV, share) plus variance analysis, the core of FP&amp;A 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8549640"/>
            <a:ext cx="3657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accent2"/>
                </a:solidFill>
              </a:rPr>
              <a:t>SEE THE INTERACTIVE DASHBOARD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680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came from volume. The next gains are in repeat customers, margin mix and better budgeting.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Tableau Public: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public.tableau.com/app/profile/sana.husain5685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309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Link to the full dashboard and SQL is in the post.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5895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Sana Husain  ·  Open to analyst roles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ger">
  <a:themeElements>
    <a:clrScheme name="Ledger">
      <a:dk1>
        <a:srgbClr val="1B2A24"/>
      </a:dk1>
      <a:lt1>
        <a:srgbClr val="FFFFFF"/>
      </a:lt1>
      <a:dk2>
        <a:srgbClr val="1F4E3D"/>
      </a:dk2>
      <a:lt2>
        <a:srgbClr val="EEF3F0"/>
      </a:lt2>
      <a:accent1>
        <a:srgbClr val="1F4E3D"/>
      </a:accent1>
      <a:accent2>
        <a:srgbClr val="C8963E"/>
      </a:accent2>
      <a:accent3>
        <a:srgbClr val="4E7D6A"/>
      </a:accent3>
      <a:accent4>
        <a:srgbClr val="9DB8AB"/>
      </a:accent4>
      <a:accent5>
        <a:srgbClr val="6B7C75"/>
      </a:accent5>
      <a:accent6>
        <a:srgbClr val="D9E4DE"/>
      </a:accent6>
      <a:hlink>
        <a:srgbClr val="1F4E3D"/>
      </a:hlink>
      <a:folHlink>
        <a:srgbClr val="4E7D6A"/>
      </a:folHlink>
    </a:clrScheme>
    <a:fontScheme name="Ledg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Drove AdventureWorks' 180% Revenue Growth?</dc:title>
  <dc:subject>PptxGenJS Presentation</dc:subject>
  <dc:creator>Sana Husain</dc:creator>
  <cp:lastModifiedBy>Sana Husain</cp:lastModifiedBy>
  <cp:revision>1</cp:revision>
  <dcterms:created xsi:type="dcterms:W3CDTF">2026-10-19T01:45:25Z</dcterms:created>
  <dcterms:modified xsi:type="dcterms:W3CDTF">2026-10-19T01:45:25Z</dcterms:modified>
</cp:coreProperties>
</file>